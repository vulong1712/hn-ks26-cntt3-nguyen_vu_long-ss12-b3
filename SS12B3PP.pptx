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Plus Jakarta Sans"/>
      <ns0:bold ns1:id="rIdFont17"/>
      <ns0:regular ns1:id="rIdFont1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e8fa4830-87c4-484a-869c-21657bc43b15.fntdata" /><ns0:Relationship Id="rIdFont18" Type="http://schemas.openxmlformats.org/officeDocument/2006/relationships/font" Target="fonts/6e77c49b-11d8-44c5-852c-5df8d0fb622f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895975"/>
            <a:ext cx="10972800" cy="3524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410700" y="657225"/>
            <a:ext cx="2171700" cy="285750"/>
          </a:xfrm>
          <a:prstGeom prst="roundRect">
            <a:avLst>
              <a:gd name="adj" fmla="val 50000"/>
            </a:avLst>
          </a:prstGeom>
          <a:solidFill>
            <a:srgbClr val="0D3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895975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47925" y="4350990"/>
            <a:ext cx="9525" cy="390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09600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62" y="704850"/>
            <a:ext cx="219075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563100" y="714375"/>
            <a:ext cx="19621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4D399"/>
                </a:solidFill>
                <a:latin typeface="Plus Jakarta Sans"/>
              </a:rPr>
              <a:t>Vòng Hạt Giống (Seed Round)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145059"/>
            <a:ext cx="8601075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Nền tảng đấu giá bất động sản trực tuyến minh bạch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474690"/>
            <a:ext cx="8191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Kết nối trực tiếp chủ nhà, người mua và môi giới. Chuẩn hóa quy trình giao dịch bằng công nghệ thời gian thực.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96000"/>
            <a:ext cx="1714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Confidential Pitch Deck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4525" y="6096000"/>
            <a:ext cx="25598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contact@smarthome-proptech.vn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657225"/>
            <a:ext cx="179784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Plus Jakarta Sans"/>
              </a:rPr>
              <a:t>Smart-Home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350990"/>
            <a:ext cx="19169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THỜI GIAN THUYẾT TRÌNH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541490"/>
            <a:ext cx="19169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20 Phút Thuyết trình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2250" y="4350990"/>
            <a:ext cx="2762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ĐẠI DIỆN DỰ ÁN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2250" y="4541490"/>
            <a:ext cx="2762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Đội ngũ Sáng lập Smart-Home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715000"/>
            <a:ext cx="10972800" cy="609600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443162"/>
            <a:ext cx="3505200" cy="2047875"/>
          </a:xfrm>
          <a:prstGeom prst="roundRect">
            <a:avLst>
              <a:gd name="adj" fmla="val 74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443162"/>
            <a:ext cx="3505200" cy="2047875"/>
          </a:xfrm>
          <a:prstGeom prst="roundRect">
            <a:avLst>
              <a:gd name="adj" fmla="val 74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443162"/>
            <a:ext cx="3505200" cy="2047875"/>
          </a:xfrm>
          <a:prstGeom prst="roundRect">
            <a:avLst>
              <a:gd name="adj" fmla="val 74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905500"/>
            <a:ext cx="22860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068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59669"/>
                </a:solidFill>
                <a:latin typeface="Plus Jakarta Sans"/>
              </a:rPr>
              <a:t>Vấn đề cốt lõi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905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Thị trường BĐS truyền thống lãng phí thời gian và chi phí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5929312"/>
            <a:ext cx="837009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Hệ quả: Thanh khoản thị trường thấp, dòng tiền bị kẹt và rủi ro pháp lý cao cho nhà đầu tư cá nhân.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2757487"/>
            <a:ext cx="3595687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59669"/>
                </a:solidFill>
                <a:latin typeface="Plus Jakarta Sans"/>
              </a:rPr>
              <a:t>16 Giờ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452812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Tra cứu giá thủ công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748087"/>
            <a:ext cx="29718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Tốn thời gian xác minh pháp lý và so sánh giá từng căn nhà.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2757487"/>
            <a:ext cx="3595687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59669"/>
                </a:solidFill>
                <a:latin typeface="Plus Jakarta Sans"/>
              </a:rPr>
              <a:t>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7725" y="3452812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Phí trung gian cao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3748087"/>
            <a:ext cx="29718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Thiếu minh bạch tỷ lệ cắt hoa hồng giữa các tầng môi giới.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1525" y="2757487"/>
            <a:ext cx="3595687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59669"/>
                </a:solidFill>
                <a:latin typeface="Plus Jakarta Sans"/>
              </a:rPr>
              <a:t>72%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452812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Giao dịch kéo dài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3748087"/>
            <a:ext cx="29718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Người mua thiếu công cụ đấu giá và định giá thời gian thực.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676900"/>
            <a:ext cx="10972800" cy="647700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486025"/>
            <a:ext cx="3505200" cy="1924050"/>
          </a:xfrm>
          <a:prstGeom prst="roundRect">
            <a:avLst>
              <a:gd name="adj" fmla="val 79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486025"/>
            <a:ext cx="3505200" cy="1924050"/>
          </a:xfrm>
          <a:prstGeom prst="roundRect">
            <a:avLst>
              <a:gd name="adj" fmla="val 79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486025"/>
            <a:ext cx="3505200" cy="1924050"/>
          </a:xfrm>
          <a:prstGeom prst="roundRect">
            <a:avLst>
              <a:gd name="adj" fmla="val 79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25100" y="5867400"/>
            <a:ext cx="1028700" cy="266700"/>
          </a:xfrm>
          <a:prstGeom prst="roundRect">
            <a:avLst>
              <a:gd name="adj" fmla="val 28571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76225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2762250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2762250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2895600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6787" y="2895600"/>
            <a:ext cx="14287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6775" y="2895600"/>
            <a:ext cx="19050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533400"/>
            <a:ext cx="11068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59669"/>
                </a:solidFill>
                <a:latin typeface="Plus Jakarta Sans"/>
              </a:rPr>
              <a:t>Giải pháp đột phá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905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Smart-Home tự động hóa 100% quy trình đấu giá BĐS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5910262"/>
            <a:ext cx="798909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Công thức chuẩn hóa dữ liệu: =IFERROR(VLOOKUP(TRIM(MaMG), BangMoiGioi, 3, FALSE), 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58450" y="5924550"/>
            <a:ext cx="857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FFFF"/>
                </a:solidFill>
                <a:latin typeface="Plus Jakarta Sans"/>
              </a:rPr>
              <a:t>Chuẩn M365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3409950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Đấu giá thời gian thực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3705225"/>
            <a:ext cx="3048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Đặt giá minh bạch với độ trễ dưới 100ms trên toàn hệ thống.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9625" y="3409950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Tự động tính hoa hồng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9625" y="3705225"/>
            <a:ext cx="3048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Tra cứu VLOOKUP chính xác theo mã môi giới, loại bỏ sai sót thủ công.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3425" y="3409950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Xác thực pháp lý eKYC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3425" y="3705225"/>
            <a:ext cx="3048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Đảm bảo hồ sơ nhà đất chính chủ và đúng quy định pháp luật 100%.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9912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95587"/>
            <a:ext cx="2605087" cy="1619250"/>
          </a:xfrm>
          <a:prstGeom prst="roundRect">
            <a:avLst>
              <a:gd name="adj" fmla="val 94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05187" y="2795587"/>
            <a:ext cx="2605087" cy="1619250"/>
          </a:xfrm>
          <a:prstGeom prst="roundRect">
            <a:avLst>
              <a:gd name="adj" fmla="val 94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00775" y="2795587"/>
            <a:ext cx="2605087" cy="1619250"/>
          </a:xfrm>
          <a:prstGeom prst="roundRect">
            <a:avLst>
              <a:gd name="adj" fmla="val 94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96362" y="2805112"/>
            <a:ext cx="2586037" cy="1600200"/>
          </a:xfrm>
          <a:prstGeom prst="roundRect">
            <a:avLst>
              <a:gd name="adj" fmla="val 952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068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59669"/>
                </a:solidFill>
                <a:latin typeface="Plus Jakarta Sans"/>
              </a:rPr>
              <a:t>Quy mô thị trường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905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Thị trường địa ốc đô thị đạt 12 tỷ USD với CAGR 15.2%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024187"/>
            <a:ext cx="2243137" cy="1162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59669"/>
                </a:solidFill>
                <a:latin typeface="Plus Jakarta Sans"/>
              </a:rPr>
              <a:t>TAM (Tổng thị trường)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3787" y="3024187"/>
            <a:ext cx="2243137" cy="1162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59669"/>
                </a:solidFill>
                <a:latin typeface="Plus Jakarta Sans"/>
              </a:rPr>
              <a:t>SAM (Thị trường khả dụng)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9375" y="3024187"/>
            <a:ext cx="2243137" cy="1162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59669"/>
                </a:solidFill>
                <a:latin typeface="Plus Jakarta Sans"/>
              </a:rPr>
              <a:t>SOM (Mục tiêu 3 năm)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24962" y="3033712"/>
            <a:ext cx="2224087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4D399"/>
                </a:solidFill>
                <a:latin typeface="Plus Jakarta Sans"/>
              </a:rPr>
              <a:t>CAGR (Tăng trưởng)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153150"/>
            <a:ext cx="5476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Nguồn: Báo cáo Hiệp hội Bất động sản Việt Nam &amp; PropTech Index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7325" y="6153150"/>
            <a:ext cx="31146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Tiềm năng mở rộng khu vực Đông Nam 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309937"/>
            <a:ext cx="2661046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lus Jakarta Sans"/>
              </a:rPr>
              <a:t>$12.0B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833812"/>
            <a:ext cx="222408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Tổng giá trị giao dịch BĐS đô thị tại Việt Nam.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3312" y="3309937"/>
            <a:ext cx="2661046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lus Jakarta Sans"/>
              </a:rPr>
              <a:t>$2.4B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3312" y="3833812"/>
            <a:ext cx="222408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Phân khúc nhà phố và căn hộ chung cư tại các đô thị lớn.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8900" y="3309937"/>
            <a:ext cx="2661046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lus Jakarta Sans"/>
              </a:rPr>
              <a:t>$120M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8900" y="3833812"/>
            <a:ext cx="222408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Chiếm 5% thị phần giao dịch trực tuyến.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4962" y="3309937"/>
            <a:ext cx="2661046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FFFFF"/>
                </a:solidFill>
                <a:latin typeface="Plus Jakarta Sans"/>
              </a:rPr>
              <a:t>15.2%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4962" y="3833812"/>
            <a:ext cx="222408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Tốc độ tăng trưởng PropTech hàng năm.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19775"/>
            <a:ext cx="10972800" cy="504825"/>
          </a:xfrm>
          <a:prstGeom prst="roundRect">
            <a:avLst>
              <a:gd name="adj" fmla="val 22641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309812"/>
            <a:ext cx="5334000" cy="2419350"/>
          </a:xfrm>
          <a:prstGeom prst="roundRect">
            <a:avLst>
              <a:gd name="adj" fmla="val 629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309812"/>
            <a:ext cx="5334000" cy="2419350"/>
          </a:xfrm>
          <a:prstGeom prst="roundRect">
            <a:avLst>
              <a:gd name="adj" fmla="val 629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2025" y="2662237"/>
            <a:ext cx="838200" cy="285750"/>
          </a:xfrm>
          <a:prstGeom prst="roundRect">
            <a:avLst>
              <a:gd name="adj" fmla="val 26666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00825" y="2662237"/>
            <a:ext cx="857250" cy="285750"/>
          </a:xfrm>
          <a:prstGeom prst="roundRect">
            <a:avLst>
              <a:gd name="adj" fmla="val 2666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11068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59669"/>
                </a:solidFill>
                <a:latin typeface="Plus Jakarta Sans"/>
              </a:rPr>
              <a:t>Mô hình kinh doanh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905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Mô hình thu phí kép bền vững từ sàn giao dịch &amp; dịch vụ pháp lý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5981700"/>
            <a:ext cx="6524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65F46"/>
                </a:solidFill>
                <a:latin typeface="Plus Jakarta Sans"/>
              </a:rPr>
              <a:t>Biên lợi nhuận gộp dự kiến đạt 65% sau khi tối ưu hóa quy trình tự động hóa.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10800" y="5981700"/>
            <a:ext cx="14192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59669"/>
                </a:solidFill>
                <a:latin typeface="Plus Jakarta Sans"/>
              </a:rPr>
              <a:t>LTV/CAC &gt; 4.5x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186112"/>
            <a:ext cx="607575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Phí thành công phiên đấu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3538537"/>
            <a:ext cx="47244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Thu từ bên bán khi giao dịch chốt thành công trên hệ thống đấu giá trực tuyến.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4195762"/>
            <a:ext cx="57864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Doanh thu dự kiến: $1.2M / năm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825" y="3186112"/>
            <a:ext cx="55911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Phí thẩm định &amp; Đặt cọc Escrow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0825" y="3538537"/>
            <a:ext cx="47244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Gói dịch vụ kiểm tra pháp lý eKYC và dịch vụ lưu giữ tài khoản ký quỹ an toàn.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0825" y="4195762"/>
            <a:ext cx="55911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Doanh thu dự kiến: $450K / năm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375" y="2719387"/>
            <a:ext cx="666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Luồng 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5850" y="2662237"/>
            <a:ext cx="98107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59669"/>
                </a:solidFill>
                <a:latin typeface="Plus Jakarta Sans"/>
              </a:rPr>
              <a:t>1.0%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4175" y="2719387"/>
            <a:ext cx="685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Luồng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29850" y="2662237"/>
            <a:ext cx="128587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Cố định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676900"/>
            <a:ext cx="10972800" cy="647700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57487"/>
            <a:ext cx="3505200" cy="1381125"/>
          </a:xfrm>
          <a:prstGeom prst="roundRect">
            <a:avLst>
              <a:gd name="adj" fmla="val 110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757487"/>
            <a:ext cx="3505200" cy="1381125"/>
          </a:xfrm>
          <a:prstGeom prst="roundRect">
            <a:avLst>
              <a:gd name="adj" fmla="val 110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614612"/>
            <a:ext cx="3505200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953625" y="5867400"/>
            <a:ext cx="1400175" cy="266700"/>
          </a:xfrm>
          <a:prstGeom prst="roundRect">
            <a:avLst>
              <a:gd name="adj" fmla="val 28571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071812"/>
            <a:ext cx="25717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071812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2928937"/>
            <a:ext cx="17145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068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59669"/>
                </a:solidFill>
                <a:latin typeface="Plus Jakarta Sans"/>
              </a:rPr>
              <a:t>Sản phẩm &amp; Công nghệ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905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Nền tảng MVP đã hoàn thành chạy thử nghiệm tốc độ cao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5910262"/>
            <a:ext cx="5762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Hạ tầng Cloud Native chịu tải trên 50,000 phiên đấu giá đồng thời.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6975" y="5924550"/>
            <a:ext cx="1228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FFFF"/>
                </a:solidFill>
                <a:latin typeface="Plus Jakarta Sans"/>
              </a:rPr>
              <a:t>Sẵn sàng Scale-up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033712"/>
            <a:ext cx="3690937" cy="285750"/>
          </a:xfrm>
          <a:prstGeom prst="rect">
            <a:avLst/>
          </a:prstGeom>
          <a:noFill/>
        </p:spPr>
        <p:txBody>
          <a:bodyPr wrap="none" lIns="257175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59669"/>
                </a:solidFill>
                <a:latin typeface="Plus Jakarta Sans"/>
              </a:rPr>
              <a:t>Dashboard Môi Giới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433762"/>
            <a:ext cx="3048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Tra cứu tự động hoa hồng qua VLOOKUP và quản lý nguồn hàng nhanh chóng.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3033712"/>
            <a:ext cx="3690937" cy="285750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59669"/>
                </a:solidFill>
                <a:latin typeface="Plus Jakarta Sans"/>
              </a:rPr>
              <a:t>Đấu Giá Trực Tiếp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9625" y="3433762"/>
            <a:ext cx="3048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Bảo mật thông tin người đặt giá với khớp lệnh tự động dưới 100ms.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2890837"/>
            <a:ext cx="3048000" cy="571500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59669"/>
                </a:solidFill>
                <a:latin typeface="Plus Jakarta Sans"/>
              </a:rPr>
              <a:t>Báo Cáo KPI Thời Gian Thực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3425" y="3576637"/>
            <a:ext cx="3048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Xuất dữ liệu thị trường và lịch sử biến động giá cực kỳ minh bạch.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715000"/>
            <a:ext cx="10972800" cy="609600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43175"/>
            <a:ext cx="3505200" cy="1847850"/>
          </a:xfrm>
          <a:prstGeom prst="roundRect">
            <a:avLst>
              <a:gd name="adj" fmla="val 82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543175"/>
            <a:ext cx="3505200" cy="1847850"/>
          </a:xfrm>
          <a:prstGeom prst="roundRect">
            <a:avLst>
              <a:gd name="adj" fmla="val 82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543175"/>
            <a:ext cx="3505200" cy="1847850"/>
          </a:xfrm>
          <a:prstGeom prst="roundRect">
            <a:avLst>
              <a:gd name="adj" fmla="val 82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905500"/>
            <a:ext cx="22860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068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59669"/>
                </a:solidFill>
                <a:latin typeface="Plus Jakarta Sans"/>
              </a:rPr>
              <a:t>Kết quả thử nghiệm (Traction)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905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Đạt 1,200 giao dịch thử nghiệm thành công trong 6 tháng qua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5929312"/>
            <a:ext cx="72985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Tỷ lệ giữ chân người dùng (Retention Rate) đạt 78% sau 3 tháng trải nghiệm hệ thống.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2857500"/>
            <a:ext cx="3595687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059669"/>
                </a:solidFill>
                <a:latin typeface="Plus Jakarta Sans"/>
              </a:rPr>
              <a:t>1,200+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438525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Giao dịch thành công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714750"/>
            <a:ext cx="2971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Khớp lệnh đấu giá nhanh chóng trong vòng 6 tháng qua.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2857500"/>
            <a:ext cx="3595687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059669"/>
                </a:solidFill>
                <a:latin typeface="Plus Jakarta Sans"/>
              </a:rPr>
              <a:t>$150K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7725" y="3438525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Doanh thu phí dịch vụ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3714750"/>
            <a:ext cx="2971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Thu nhập thực tế từ phí sàn và dịch vụ thẩm định pháp lý.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1525" y="2857500"/>
            <a:ext cx="3595687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059669"/>
                </a:solidFill>
                <a:latin typeface="Plus Jakarta Sans"/>
              </a:rPr>
              <a:t>4.8 /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438525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Đánh giá từ môi giới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3714750"/>
            <a:ext cx="29718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Hơn 500 môi giới hoạt động thường xuyên trên nền tảng.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9912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90825"/>
            <a:ext cx="3505200" cy="1628775"/>
          </a:xfrm>
          <a:prstGeom prst="roundRect">
            <a:avLst>
              <a:gd name="adj" fmla="val 93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790825"/>
            <a:ext cx="3505200" cy="1628775"/>
          </a:xfrm>
          <a:prstGeom prst="roundRect">
            <a:avLst>
              <a:gd name="adj" fmla="val 93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790825"/>
            <a:ext cx="3505200" cy="1628775"/>
          </a:xfrm>
          <a:prstGeom prst="roundRect">
            <a:avLst>
              <a:gd name="adj" fmla="val 93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5825" y="3076575"/>
            <a:ext cx="933450" cy="219075"/>
          </a:xfrm>
          <a:prstGeom prst="roundRect">
            <a:avLst>
              <a:gd name="adj" fmla="val 26086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19625" y="3076575"/>
            <a:ext cx="952500" cy="219075"/>
          </a:xfrm>
          <a:prstGeom prst="roundRect">
            <a:avLst>
              <a:gd name="adj" fmla="val 2608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53425" y="3076575"/>
            <a:ext cx="962025" cy="219075"/>
          </a:xfrm>
          <a:prstGeom prst="roundRect">
            <a:avLst>
              <a:gd name="adj" fmla="val 2608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11068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59669"/>
                </a:solidFill>
                <a:latin typeface="Plus Jakarta Sans"/>
              </a:rPr>
              <a:t>Kế hoạch phát triển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905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Lộ trình 3 năm chiếm lĩnh 5% thị phần giao dịch BĐS trực tuyến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153150"/>
            <a:ext cx="3381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Mốc tiến độ dựa trên KPI tài chính vòng Seed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8350" y="6153150"/>
            <a:ext cx="2405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59669"/>
                </a:solidFill>
                <a:latin typeface="Plus Jakarta Sans"/>
              </a:rPr>
              <a:t>Cam kết tăng trưởng bền vững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075" y="3114675"/>
            <a:ext cx="8382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Plus Jakarta Sans"/>
              </a:rPr>
              <a:t>NĂM 1 (2026)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419475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Phủ sóng TP.HCM &amp; Hà Nội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3714750"/>
            <a:ext cx="3048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Hoàn thiện hệ thống VLOOKUP tự động và mở rộng mạng lưới 3,000 môi giới.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4875" y="3114675"/>
            <a:ext cx="8572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Plus Jakarta Sans"/>
              </a:rPr>
              <a:t>NĂM 2 (2027)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9625" y="3419475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Mở rộng Đà Nẵng &amp; Bình Dương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9625" y="3714750"/>
            <a:ext cx="3048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Tích hợp AI dự đoán giá sàn và hợp đồng thông minh Blockchain.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8675" y="3114675"/>
            <a:ext cx="8667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Plus Jakarta Sans"/>
              </a:rPr>
              <a:t>NĂM 3 (2028)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3425" y="3419475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Chiếm 5% thị phần toàn quốc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3425" y="3714750"/>
            <a:ext cx="3048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Đạt mốc 50,000 giao dịch/năm và chuẩn bị IPO khu vực.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715000"/>
            <a:ext cx="10972800" cy="609600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90812"/>
            <a:ext cx="3505200" cy="1552575"/>
          </a:xfrm>
          <a:prstGeom prst="roundRect">
            <a:avLst>
              <a:gd name="adj" fmla="val 98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690812"/>
            <a:ext cx="3505200" cy="1552575"/>
          </a:xfrm>
          <a:prstGeom prst="roundRect">
            <a:avLst>
              <a:gd name="adj" fmla="val 98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690812"/>
            <a:ext cx="3505200" cy="1552575"/>
          </a:xfrm>
          <a:prstGeom prst="roundRect">
            <a:avLst>
              <a:gd name="adj" fmla="val 98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905500"/>
            <a:ext cx="28575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068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59669"/>
                </a:solidFill>
                <a:latin typeface="Plus Jakarta Sans"/>
              </a:rPr>
              <a:t>Đội ngũ sáng lập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905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Đội ngũ kết hợp 10 năm kinh nghiệm Kỹ thuật phần mềm &amp; BĐS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2957512"/>
            <a:ext cx="3067050" cy="1019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59669"/>
                </a:solidFill>
                <a:latin typeface="Plus Jakarta Sans"/>
              </a:rPr>
              <a:t>CEO &amp; Founder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0100" y="2957512"/>
            <a:ext cx="3067050" cy="1019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59669"/>
                </a:solidFill>
                <a:latin typeface="Plus Jakarta Sans"/>
              </a:rPr>
              <a:t>Head of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2957512"/>
            <a:ext cx="3067050" cy="1019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59669"/>
                </a:solidFill>
                <a:latin typeface="Plus Jakarta Sans"/>
              </a:rPr>
              <a:t>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6350" y="5929312"/>
            <a:ext cx="7667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Đội ngũ đã từng đồng hành xây dựng và thoái vốn thành công tại 2 startup công nghệ lớn.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243262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Nguyễn Văn 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538537"/>
            <a:ext cx="3048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Chuyên gia Kỹ thuật Phần mềm với 8 năm kinh nghiệm xây dựng nền tảng dữ liệu lớn.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243262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Trần Thị Mai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3538537"/>
            <a:ext cx="3048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Quản lý Vận hành Địa ốc với 10 năm điều hành mạng lưới môi giới nhà đất.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243262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Lê Hoàng Nam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3538537"/>
            <a:ext cx="3048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Kiến trúc sư Hệ thống và chuyên gia phát triển hệ thống đấu giá thời gian thực.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895975"/>
            <a:ext cx="10972800" cy="3524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01200" y="657225"/>
            <a:ext cx="1981200" cy="285750"/>
          </a:xfrm>
          <a:prstGeom prst="roundRect">
            <a:avLst>
              <a:gd name="adj" fmla="val 50000"/>
            </a:avLst>
          </a:prstGeom>
          <a:solidFill>
            <a:srgbClr val="0D3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962900" y="2490787"/>
            <a:ext cx="3619500" cy="1905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5895975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33600" y="3759398"/>
            <a:ext cx="9525" cy="4857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09600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62" y="704850"/>
            <a:ext cx="21907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225" y="3252787"/>
            <a:ext cx="190500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7225" y="3586162"/>
            <a:ext cx="190500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7225" y="3919537"/>
            <a:ext cx="190500" cy="1428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753600" y="714375"/>
            <a:ext cx="17716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4D399"/>
                </a:solidFill>
                <a:latin typeface="Plus Jakarta Sans"/>
              </a:rPr>
              <a:t>Kêu gọi đầu tư Seed 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096000"/>
            <a:ext cx="23693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Smart-Home Pitch Deck ©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7500" y="6096000"/>
            <a:ext cx="13906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All Rights Reserved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" y="657225"/>
            <a:ext cx="18573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Plus Jakarta Sans"/>
              </a:rPr>
              <a:t>Smart-Home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2641252"/>
            <a:ext cx="9251156" cy="479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FFFFFF"/>
                </a:solidFill>
                <a:latin typeface="Plus Jakarta Sans"/>
              </a:rPr>
              <a:t>Kêu gọi $500,000 cho 15% cổ phần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3273623"/>
            <a:ext cx="881062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Đồng hành cùng Smart-Home định hình lại tương lai giao dịch bất động sản tại Việt Nam.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7225" y="2805112"/>
            <a:ext cx="39147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Thông tin liên hệ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3759398"/>
            <a:ext cx="13906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Cổ phần phát hành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1725" y="3759398"/>
            <a:ext cx="14478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Định giá Pre-money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3959423"/>
            <a:ext cx="161925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4D399"/>
                </a:solidFill>
                <a:latin typeface="Plus Jakarta Sans"/>
              </a:rPr>
              <a:t>15.0%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1725" y="3959423"/>
            <a:ext cx="169068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Plus Jakarta Sans"/>
              </a:rPr>
              <a:t>$2.83M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82025" y="3233737"/>
            <a:ext cx="3000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contact@smarthome-proptech.vn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82025" y="3567112"/>
            <a:ext cx="15597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(+84) 098 765 4321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82025" y="3900487"/>
            <a:ext cx="260746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www.smarthome-proptech.vn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